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B6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B67"/>
                </a:solidFill>
                <a:latin typeface="Arial"/>
              </a:rPr>
              <a:t>Revenue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3582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11.69</c:v>
                </c:pt>
                <c:pt idx="1">
                  <c:v>11.57</c:v>
                </c:pt>
                <c:pt idx="2">
                  <c:v>2.4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B6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B67"/>
                </a:solidFill>
                <a:latin typeface="Arial"/>
              </a:rPr>
              <a:t>Cost vs. Gross Profit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A913E"/>
              </a:solidFill>
              <a:effectLst/>
            </c:spPr>
          </c:dPt>
          <c:dPt>
            <c:idx val="1"/>
            <c:bubble3D val="0"/>
            <c:spPr>
              <a:solidFill>
                <a:srgbClr val="0F766E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Total Cost</c:v>
                </c:pt>
                <c:pt idx="1">
                  <c:v>Gross Profit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67.5</c:v>
                </c:pt>
                <c:pt idx="1">
                  <c:v>32.5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" name="Shape 1"/>
          <p:cNvSpPr/>
          <p:nvPr/>
        </p:nvSpPr>
        <p:spPr>
          <a:xfrm>
            <a:off x="2971800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136392" y="0"/>
            <a:ext cx="68580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5" name="Shape 3"/>
          <p:cNvSpPr/>
          <p:nvPr/>
        </p:nvSpPr>
        <p:spPr>
          <a:xfrm>
            <a:off x="3822192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986784" y="0"/>
            <a:ext cx="68580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7" name="Shape 5"/>
          <p:cNvSpPr/>
          <p:nvPr/>
        </p:nvSpPr>
        <p:spPr>
          <a:xfrm>
            <a:off x="4672584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837176" y="0"/>
            <a:ext cx="1783080" cy="6858000"/>
          </a:xfrm>
          <a:prstGeom prst="rect">
            <a:avLst/>
          </a:prstGeom>
          <a:solidFill>
            <a:srgbClr val="14A6AA"/>
          </a:solidFill>
          <a:ln/>
        </p:spPr>
      </p:sp>
      <p:sp>
        <p:nvSpPr>
          <p:cNvPr id="9" name="Shape 7"/>
          <p:cNvSpPr/>
          <p:nvPr/>
        </p:nvSpPr>
        <p:spPr>
          <a:xfrm>
            <a:off x="6620256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784848" y="0"/>
            <a:ext cx="297180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11" name="Shape 9"/>
          <p:cNvSpPr/>
          <p:nvPr/>
        </p:nvSpPr>
        <p:spPr>
          <a:xfrm>
            <a:off x="9756648" y="0"/>
            <a:ext cx="2435047" cy="6858000"/>
          </a:xfrm>
          <a:prstGeom prst="rect">
            <a:avLst/>
          </a:prstGeom>
          <a:solidFill>
            <a:srgbClr val="14A6A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965960"/>
            <a:ext cx="9079992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0B2B67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554480" y="2240280"/>
            <a:ext cx="9079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CALIBO AI ACADEMY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651760"/>
            <a:ext cx="9079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Sales Intelligence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46120"/>
            <a:ext cx="9079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Performance, Profitability &amp; Business Intelligence Dashboard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794760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A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41648"/>
            <a:ext cx="9079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 •  ID 2300030398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70248" y="452628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70248" y="45262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CASE STUDY  •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Snapshot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 of retail sales data, condensed into one connected model.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E35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$25.66M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69164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E35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08960" y="18562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$8.34M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4688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E35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60720" y="18562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10,889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4688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1691640"/>
            <a:ext cx="2487168" cy="1234440"/>
          </a:xfrm>
          <a:prstGeom prst="roundRect">
            <a:avLst>
              <a:gd name="adj" fmla="val 5926"/>
            </a:avLst>
          </a:prstGeom>
          <a:solidFill>
            <a:srgbClr val="1E35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8562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4688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048256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31012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5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2219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96896" y="3200400"/>
            <a:ext cx="2048256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96896" y="331012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5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2596896" y="382219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3200400"/>
            <a:ext cx="2048256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331012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5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801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736592" y="382219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76288" y="3200400"/>
            <a:ext cx="2048256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331012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5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382219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Salespeople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15984" y="3200400"/>
            <a:ext cx="2048256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15984" y="331012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5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21,078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015984" y="382219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0B2B6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4681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SCOPE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956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Jan 2021  →  15 Mar 2023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 tables: Sales (2021–23), Products, Locations, Customers, Sales People, Budgeting, Date Ranges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Snapshot: One connected model spans 3 fiscal years, 5 entity types, and every dashboard page.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month-end retail team currently rebuilds performance views by hand.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35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13432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product, location, customer, salesperson and budget data sit in nine disconnected tables, refreshed manually each month.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313432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quickly tell which products, cities or salespeople are driving revenue — or falling short of budget.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9872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A9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313432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we generating the most revenue and profit, and where should management focus attention next?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E8F3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34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managers who need a self-serve view instead of a monthly Excel rebuild.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DEFINITION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434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Power BI model that drills from company-wide KPIs down to a single order, product or location.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Business problem: define what a connected dashboard needs to answer before building it.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analytical foundation before any visual is drawn.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91840" cy="2606040"/>
          </a:xfrm>
          <a:prstGeom prst="roundRect">
            <a:avLst>
              <a:gd name="adj" fmla="val 2807"/>
            </a:avLst>
          </a:prstGeom>
          <a:solidFill>
            <a:srgbClr val="1E35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SNAPSHOT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8716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consistent and analysis-ready sales data across all three years.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“Clean, validated data is the foundation every downstream measure depends on.”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1691640"/>
            <a:ext cx="1810512" cy="2606040"/>
          </a:xfrm>
          <a:prstGeom prst="roundRect">
            <a:avLst>
              <a:gd name="adj" fmla="val 3030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892808"/>
            <a:ext cx="502920" cy="502920"/>
          </a:xfrm>
          <a:prstGeom prst="ellipse">
            <a:avLst/>
          </a:prstGeom>
          <a:solidFill>
            <a:srgbClr val="14A6A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3600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87368" y="256032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926080"/>
            <a:ext cx="15361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9 sheets: 3 yearly sales, Products, Locations, Customers, Sales People, Budgeting, Date Ranges.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1691640"/>
            <a:ext cx="1810512" cy="2606040"/>
          </a:xfrm>
          <a:prstGeom prst="roundRect">
            <a:avLst>
              <a:gd name="adj" fmla="val 3030"/>
            </a:avLst>
          </a:prstGeom>
          <a:solidFill>
            <a:srgbClr val="E8F3F1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808" y="1892808"/>
            <a:ext cx="502920" cy="502920"/>
          </a:xfrm>
          <a:prstGeom prst="ellipse">
            <a:avLst/>
          </a:prstGeom>
          <a:solidFill>
            <a:srgbClr val="14A6A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16168" y="256032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926080"/>
            <a:ext cx="15361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types, remove blanks, standardize column names, check for duplicate Order IDs.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1810512" cy="2606040"/>
          </a:xfrm>
          <a:prstGeom prst="roundRect">
            <a:avLst>
              <a:gd name="adj" fmla="val 3030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3608" y="1892808"/>
            <a:ext cx="502920" cy="502920"/>
          </a:xfrm>
          <a:prstGeom prst="ellipse">
            <a:avLst/>
          </a:prstGeom>
          <a:solidFill>
            <a:srgbClr val="14A6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9360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44968" y="256032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926080"/>
            <a:ext cx="15361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2021–23 sales (10,889 rows) into one consistent Fact_Sales table.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64040" y="1691640"/>
            <a:ext cx="1810512" cy="2606040"/>
          </a:xfrm>
          <a:prstGeom prst="roundRect">
            <a:avLst>
              <a:gd name="adj" fmla="val 3030"/>
            </a:avLst>
          </a:prstGeom>
          <a:solidFill>
            <a:srgbClr val="E8F3F1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22408" y="1892808"/>
            <a:ext cx="502920" cy="502920"/>
          </a:xfrm>
          <a:prstGeom prst="ellipse">
            <a:avLst/>
          </a:prstGeom>
          <a:solidFill>
            <a:srgbClr val="14A6A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2240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573768" y="256032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2926080"/>
            <a:ext cx="15361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star-schema modeling with calculated Revenue and Cost columns.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590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 IN ONE LINE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treated data preparation as the quality checkpoint before any visualization or business interpretation.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ETL: imported, appended and validated 10,889 orders across three fiscal years.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Findings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inspection turned up before the model was trusted.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52244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9522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01368"/>
            <a:ext cx="310896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orders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801368"/>
            <a:ext cx="6885432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10,889 Order IDs are unique across 2021–23 — safe to append directly.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022092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0220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71216"/>
            <a:ext cx="310896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71216"/>
            <a:ext cx="6885432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Products, Locations and Customers all passed null checks column by column.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31336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091940"/>
            <a:ext cx="438912" cy="438912"/>
          </a:xfrm>
          <a:prstGeom prst="ellipse">
            <a:avLst/>
          </a:prstGeom>
          <a:solidFill>
            <a:srgbClr val="EA91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0919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41064"/>
            <a:ext cx="310896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key mismatch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941064"/>
            <a:ext cx="6885432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97 Location IDs in Budgeting don't match Dim_Location — flagged for reconciliation.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901184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5161788"/>
            <a:ext cx="438912" cy="438912"/>
          </a:xfrm>
          <a:prstGeom prst="ellipse">
            <a:avLst/>
          </a:prstGeom>
          <a:solidFill>
            <a:srgbClr val="EA9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51617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010912"/>
            <a:ext cx="310896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is a partial year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010912"/>
            <a:ext cx="6885432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sales run only from 1 Jan to 15 Mar — must be labelled, not compared like-for-like.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Data quality: two clean checks, two flagged issues — both resolved before modeling.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Star Schema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table, four dimensions, a single direction of filter 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56048" y="32461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E35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56048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47488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• Product ID • Location 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ID • Customer 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• Quantity • Price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709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ID, Name, Cost, Price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709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ID, City, State, Population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956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349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Customer Name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48463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4956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Dim_Salesperson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5349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ID, Name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1600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1673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 (marked date table)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• Quarter • Month • Week • Day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2606040"/>
            <a:ext cx="1371600" cy="822960"/>
          </a:xfrm>
          <a:prstGeom prst="line">
            <a:avLst/>
          </a:prstGeom>
          <a:noFill/>
          <a:ln w="19050">
            <a:solidFill>
              <a:srgbClr val="233D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606040"/>
            <a:ext cx="-914400" cy="822960"/>
          </a:xfrm>
          <a:prstGeom prst="line">
            <a:avLst/>
          </a:prstGeom>
          <a:noFill/>
          <a:ln w="19050">
            <a:solidFill>
              <a:srgbClr val="233D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4846320"/>
            <a:ext cx="1554480" cy="-411480"/>
          </a:xfrm>
          <a:prstGeom prst="line">
            <a:avLst/>
          </a:prstGeom>
          <a:noFill/>
          <a:ln w="19050">
            <a:solidFill>
              <a:srgbClr val="233D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4846320"/>
            <a:ext cx="-914400" cy="-411480"/>
          </a:xfrm>
          <a:prstGeom prst="line">
            <a:avLst/>
          </a:prstGeom>
          <a:noFill/>
          <a:ln w="19050">
            <a:solidFill>
              <a:srgbClr val="233D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9048" y="2377440"/>
            <a:ext cx="0" cy="868680"/>
          </a:xfrm>
          <a:prstGeom prst="line">
            <a:avLst/>
          </a:prstGeom>
          <a:noFill/>
          <a:ln w="19050">
            <a:solidFill>
              <a:srgbClr val="233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Data model: a clean star schema — no snowflaking, no many-to-many relationships.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Sales &amp; Profitability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on the dashboard is a measure, never a hard-typed number.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470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IMPLEMENTED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540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838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13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73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2029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Unit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6153912" cy="4114800"/>
          </a:xfrm>
          <a:prstGeom prst="roundRect">
            <a:avLst>
              <a:gd name="adj" fmla="val 1778"/>
            </a:avLst>
          </a:prstGeom>
          <a:solidFill>
            <a:srgbClr val="0B2B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0" y="1847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DAX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212848"/>
            <a:ext cx="5623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Sales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SUMX ( Fact_Sales,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Fact_Sales[Quantity] * Fact_Sales[Price]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Profit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Sales] -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SUMX ( Fact_Sales,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Fact_Sales[Quantity] *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RELATED ( Dim_Product[Cost] )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Margin %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 ( [Gross Profit], [Total Sales], 0 )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DAX: revenue, cost and margin are calculated once and reused across every page.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Time Intelligence &amp; Budget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periods and tracking budget needed calculated columns AND measures.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470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IMPLEMENTED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Previous Year Sales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883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Sales Growth &amp; YoY Growth 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821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Sales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758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 &amp; Previous Year YTD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69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Actual Sales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63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5721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Achievement 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691640"/>
            <a:ext cx="6153912" cy="4114800"/>
          </a:xfrm>
          <a:prstGeom prst="roundRect">
            <a:avLst>
              <a:gd name="adj" fmla="val 1778"/>
            </a:avLst>
          </a:prstGeom>
          <a:solidFill>
            <a:srgbClr val="0B2B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1847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212848"/>
            <a:ext cx="5623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 Growth %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PY = CALCULATE ( [Total Sales],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SAMEPERIODLASTYEAR ( Dim_Date[Date] )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 ( [Total Sales] - PY, PY, 0 )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YTD Sales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TOTALYTD ( [Total Sales], Dim_Date[Date] 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Achievement % =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 ( [Actual Sales], [Budget], 0 )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DAX: CALCULATE, SAMEPERIODLASTYEAR, TOTALYTD and DIVIDE power every trend and variance view.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Executive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answers one question: how is the business performing right now?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E35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866519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275838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85157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94476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503795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13114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Ach.%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322433" y="1920240"/>
            <a:ext cx="14093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 KPI cards across the top of the page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39312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Line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3273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monthly revenue across all three years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79392" y="3063240"/>
            <a:ext cx="3639312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2272" y="320040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Year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3611880"/>
            <a:ext cx="3273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vs 2022 vs 2023 side by side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01584" y="3063240"/>
            <a:ext cx="3639312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320040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3611880"/>
            <a:ext cx="3273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revenue, updates with filters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3639312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80060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12080"/>
            <a:ext cx="3273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revenue contribution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9392" y="4663440"/>
            <a:ext cx="3639312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62272" y="480060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Salespeople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5212080"/>
            <a:ext cx="3273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revenue and profit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01584" y="4663440"/>
            <a:ext cx="3639312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84464" y="480060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Budget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5212080"/>
            <a:ext cx="3273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achievement at a glance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Executive Overview: a 60-second read on company health, fully filter-driven.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Product, Customer &amp; Salesperson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focused pages let a manager go from “what” to “who.”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57400"/>
            <a:ext cx="361188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bottom 10 products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1868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profit scatter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77056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by product table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53542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trend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88536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8536" y="173736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1E358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88536" y="2057400"/>
            <a:ext cx="3611880" cy="27432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1416" y="1737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25603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revenue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321868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AOV by customer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877056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453542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High-sales, low-margin flags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19872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173736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EA9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8119872" y="2057400"/>
            <a:ext cx="3611880" cy="274320"/>
          </a:xfrm>
          <a:prstGeom prst="rect">
            <a:avLst/>
          </a:prstGeom>
          <a:solidFill>
            <a:srgbClr val="EA91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02752" y="1737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Salesperson Performance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48472" y="25603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by rep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321868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handled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3877056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performance by rep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453542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9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% ranking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Dashboard design: consistent structure, different lens — product, customer, then rep.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Geography, Budget &amp; Interactivity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pages, plus the features that tie every page together.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8F3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of 74 California locations • sales-vs-population scatter • location ranking matrix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559552" cy="1965960"/>
          </a:xfrm>
          <a:prstGeom prst="roundRect">
            <a:avLst>
              <a:gd name="adj" fmla="val 3721"/>
            </a:avLst>
          </a:prstGeom>
          <a:solidFill>
            <a:srgbClr val="E8F3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Budget columns • variance chart • achievement KPI • monthly trend by location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 ACROSS EVERY PAGE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724912" cy="150876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4389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8006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State, Location, Product, Customer, Salesperson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9272" y="4251960"/>
            <a:ext cx="2724912" cy="150876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3864" y="4389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83864" y="48006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→ Quarter → Month → Day, and State → Location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4251960"/>
            <a:ext cx="2724912" cy="150876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4389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48006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pages for Product, Customer, Salesperson, Location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43416" y="4251960"/>
            <a:ext cx="2724912" cy="150876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08008" y="438912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&amp; cross-filter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08008" y="48006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tooltips plus synced selection across all visuals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Interactivity: every visual is filter-aware; nothing on the report is static.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Revenue &amp; Profitability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connected model surfaced once the data could talk back.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72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*2023 covers only Jan–Mar — a partial year, not a decline.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035040" y="169164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9834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steady but uneven: </a:t>
            </a:r>
            <a:pPr indent="0" marL="0">
              <a:buNone/>
            </a:pPr>
            <a:r>
              <a:rPr lang="en-US" sz="12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margins range from ~15% (Product 4, 95, 27) to ~50% (Product 41, 96, 40) — a clear pricing/cost-review shortlist.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Findings: a consistent ~32.5% margin masks a wide product-level spread worth acting on.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Customers, Reps &amp; Locations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and where are actually driving the business.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E35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013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7568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Rialto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328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$465.6K revenue — leads all 74 California locations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8536" y="1691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E35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71416" y="18013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SALESPERSON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1416" y="207568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Kenneth Bradley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5328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$678.8K in sales, the highest of 45 reps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19872" y="1691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E35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8013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07568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Jesse Hill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5328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$171.3K — highest single-customer revenue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447288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is low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447288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customers contribute only ~5.4% of total revenue — a broad, low-risk customer base rather than a few accounts to protect.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325112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34840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doesn't predict sales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434840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population correlation across locations is ~0.07 — essentially no relationship. Sales performance, not city size, should drive investment.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312664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F4F8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422392"/>
            <a:ext cx="3108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cities trail by ~40%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5422392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Antioch, Costa Mesa and San Francisco each generate ~$280K — well below the ~$450K+ leaders, flagging growth-opportunity locations.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Findings: revenue is broadly spread across customers, but concentrated by city and rep.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the dashboard makes possible, ranked by ease of impact.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15084"/>
            <a:ext cx="438912" cy="438912"/>
          </a:xfrm>
          <a:prstGeom prst="ellipse">
            <a:avLst/>
          </a:prstGeom>
          <a:solidFill>
            <a:srgbClr val="1E35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8150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Budgeting location keys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373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97 Budgeting Location IDs don't match Dim_Location — fix before using it for accountability reporting.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E8F3F1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683764"/>
            <a:ext cx="438912" cy="438912"/>
          </a:xfrm>
          <a:prstGeom prst="ellipse">
            <a:avLst/>
          </a:prstGeom>
          <a:solidFill>
            <a:srgbClr val="1E35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6837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060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low-margin products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0604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pricing or cost for Products 4, 95 and 27 (~15–18% margin) while protecting 41, 96 and 40 (~50%).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552444"/>
            <a:ext cx="438912" cy="438912"/>
          </a:xfrm>
          <a:prstGeom prst="ellipse">
            <a:avLst/>
          </a:prstGeom>
          <a:solidFill>
            <a:srgbClr val="1E35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5524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74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by performance, not population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4747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barely predicts revenue (r ≈ 0.07) — direct marketing and staffing toward proven performers like Rialto.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E8F3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4421124"/>
            <a:ext cx="438912" cy="438912"/>
          </a:xfrm>
          <a:prstGeom prst="ellipse">
            <a:avLst/>
          </a:prstGeom>
          <a:solidFill>
            <a:srgbClr val="1E35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44211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43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2023 as partial-year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43434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2023 clearly in every YoY view so a 2.5-month slice isn't misread as a sales decline.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289804"/>
            <a:ext cx="438912" cy="438912"/>
          </a:xfrm>
          <a:prstGeom prst="ellipse">
            <a:avLst/>
          </a:prstGeom>
          <a:solidFill>
            <a:srgbClr val="1E35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52898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212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reps and locations over VIP accounts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521208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top-10 customers at only ~5.4% of revenue, retention efforts are better spent on salespeople and cities.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Recommendations: five concrete, data-backed actions for management.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• M.V ASHIKA REDDY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Business Story — Evidence Chain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quality becomes a management decision, end to 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E35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10312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77440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2404872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04288" y="201168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E35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14016" y="210312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414016" y="2377440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59936" y="2404872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51376" y="201168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E35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61104" y="210312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261104" y="2377440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07024" y="2404872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98464" y="201168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E35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08192" y="210312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08192" y="2377440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54112" y="2404872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45552" y="201168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E35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0" y="210312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377440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2404872"/>
            <a:ext cx="9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92640" y="201168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EA9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02368" y="210312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802368" y="2377440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8F3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3657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PRESENTATION-READY VIEW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9502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9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→ a trustworthy model → measures that never disagree → dashboards any manager can question directly.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B2B6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9377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DISCIPLINE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2303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in this deck ties back to a measure or a table check — no number here was estimated by eye.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309360"/>
            <a:ext cx="12191695" cy="41148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6309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| Business insight: quality data, a sound model and clear measures compound into decisions.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309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005072" y="0"/>
            <a:ext cx="822960" cy="6858000"/>
          </a:xfrm>
          <a:prstGeom prst="rect">
            <a:avLst/>
          </a:prstGeom>
          <a:solidFill>
            <a:srgbClr val="14A6AA"/>
          </a:solidFill>
          <a:ln/>
        </p:spPr>
      </p:sp>
      <p:sp>
        <p:nvSpPr>
          <p:cNvPr id="5" name="Shape 3"/>
          <p:cNvSpPr/>
          <p:nvPr/>
        </p:nvSpPr>
        <p:spPr>
          <a:xfrm>
            <a:off x="4828032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992624" y="0"/>
            <a:ext cx="82296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7" name="Shape 5"/>
          <p:cNvSpPr/>
          <p:nvPr/>
        </p:nvSpPr>
        <p:spPr>
          <a:xfrm>
            <a:off x="5815584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980176" y="0"/>
            <a:ext cx="822960" cy="6858000"/>
          </a:xfrm>
          <a:prstGeom prst="rect">
            <a:avLst/>
          </a:prstGeom>
          <a:solidFill>
            <a:srgbClr val="14A6AA"/>
          </a:solidFill>
          <a:ln/>
        </p:spPr>
      </p:sp>
      <p:sp>
        <p:nvSpPr>
          <p:cNvPr id="9" name="Shape 7"/>
          <p:cNvSpPr/>
          <p:nvPr/>
        </p:nvSpPr>
        <p:spPr>
          <a:xfrm>
            <a:off x="6803136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967728" y="0"/>
            <a:ext cx="822960" cy="6858000"/>
          </a:xfrm>
          <a:prstGeom prst="rect">
            <a:avLst/>
          </a:prstGeom>
          <a:solidFill>
            <a:srgbClr val="1E3582"/>
          </a:solidFill>
          <a:ln/>
        </p:spPr>
      </p:sp>
      <p:sp>
        <p:nvSpPr>
          <p:cNvPr id="11" name="Shape 9"/>
          <p:cNvSpPr/>
          <p:nvPr/>
        </p:nvSpPr>
        <p:spPr>
          <a:xfrm>
            <a:off x="7790688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4A6AA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2788920"/>
            <a:ext cx="59710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8960" y="2788920"/>
            <a:ext cx="5971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520440"/>
            <a:ext cx="5971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 Ashika Reddy  •  ID 2300030398  •  Calibo AI Academy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2026-09-27T15:55:46Z</dcterms:created>
  <dcterms:modified xsi:type="dcterms:W3CDTF">2026-09-27T15:55:46Z</dcterms:modified>
</cp:coreProperties>
</file>